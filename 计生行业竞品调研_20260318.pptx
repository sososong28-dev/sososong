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计生行业竞品调研报告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 年 3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1. 行业概况</a:t>
            </a:r>
          </a:p>
          <a:p>
            <a:pPr>
              <a:spcAft>
                <a:spcPts val="1000"/>
              </a:spcAft>
              <a:defRPr sz="1800"/>
            </a:pPr>
            <a:r>
              <a:t>2. 主要竞品品牌</a:t>
            </a:r>
          </a:p>
          <a:p>
            <a:pPr>
              <a:spcAft>
                <a:spcPts val="1000"/>
              </a:spcAft>
              <a:defRPr sz="1800"/>
            </a:pPr>
            <a:r>
              <a:t>3. 市场份额分析</a:t>
            </a:r>
          </a:p>
          <a:p>
            <a:pPr>
              <a:spcAft>
                <a:spcPts val="1000"/>
              </a:spcAft>
              <a:defRPr sz="1800"/>
            </a:pPr>
            <a:r>
              <a:t>4. 产品线对比</a:t>
            </a:r>
          </a:p>
          <a:p>
            <a:pPr>
              <a:spcAft>
                <a:spcPts val="1000"/>
              </a:spcAft>
              <a:defRPr sz="1800"/>
            </a:pPr>
            <a:r>
              <a:t>5. 价格策略</a:t>
            </a:r>
          </a:p>
          <a:p>
            <a:pPr>
              <a:spcAft>
                <a:spcPts val="1000"/>
              </a:spcAft>
              <a:defRPr sz="1800"/>
            </a:pPr>
            <a:r>
              <a:t>6. 营销渠道</a:t>
            </a:r>
          </a:p>
          <a:p>
            <a:pPr>
              <a:spcAft>
                <a:spcPts val="1000"/>
              </a:spcAft>
              <a:defRPr sz="1800"/>
            </a:pPr>
            <a:r>
              <a:t>7. 社交媒体表现</a:t>
            </a:r>
          </a:p>
          <a:p>
            <a:pPr>
              <a:spcAft>
                <a:spcPts val="1000"/>
              </a:spcAft>
              <a:defRPr sz="1800"/>
            </a:pPr>
            <a:r>
              <a:t>8. 新品动态</a:t>
            </a:r>
          </a:p>
          <a:p>
            <a:pPr>
              <a:spcAft>
                <a:spcPts val="1000"/>
              </a:spcAft>
              <a:defRPr sz="1800"/>
            </a:pPr>
            <a:r>
              <a:t>9. 用户画像</a:t>
            </a:r>
          </a:p>
          <a:p>
            <a:pPr>
              <a:spcAft>
                <a:spcPts val="1000"/>
              </a:spcAft>
              <a:defRPr sz="1800"/>
            </a:pPr>
            <a:r>
              <a:t>10. 趋势与建议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行业概况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市场规模：</a:t>
            </a:r>
          </a:p>
          <a:p>
            <a:pPr>
              <a:spcAft>
                <a:spcPts val="1000"/>
              </a:spcAft>
              <a:defRPr sz="1800"/>
            </a:pPr>
            <a:r>
              <a:t>• 2025 年市场规模：约 150 亿元</a:t>
            </a:r>
          </a:p>
          <a:p>
            <a:pPr>
              <a:spcAft>
                <a:spcPts val="1000"/>
              </a:spcAft>
              <a:defRPr sz="1800"/>
            </a:pPr>
            <a:r>
              <a:t>• 年增长率：8-10%</a:t>
            </a:r>
          </a:p>
          <a:p>
            <a:pPr>
              <a:spcAft>
                <a:spcPts val="1000"/>
              </a:spcAft>
              <a:defRPr sz="1800"/>
            </a:pPr>
            <a:r>
              <a:t>• 线上占比：65%+</a:t>
            </a:r>
          </a:p>
          <a:p>
            <a:pPr>
              <a:spcAft>
                <a:spcPts val="1000"/>
              </a:spcAft>
              <a:defRPr sz="1800"/>
            </a:pPr>
            <a:r>
              <a:t>• 主要品类：安全套、润滑剂、情趣用品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行业特点：</a:t>
            </a:r>
          </a:p>
          <a:p>
            <a:pPr>
              <a:spcAft>
                <a:spcPts val="1000"/>
              </a:spcAft>
              <a:defRPr sz="1800"/>
            </a:pPr>
            <a:r>
              <a:t>• 品牌集中度高（CR5 &gt; 60%）</a:t>
            </a:r>
          </a:p>
          <a:p>
            <a:pPr>
              <a:spcAft>
                <a:spcPts val="1000"/>
              </a:spcAft>
              <a:defRPr sz="1800"/>
            </a:pPr>
            <a:r>
              <a:t>• 线上渠道为主</a:t>
            </a:r>
          </a:p>
          <a:p>
            <a:pPr>
              <a:spcAft>
                <a:spcPts val="1000"/>
              </a:spcAft>
              <a:defRPr sz="1800"/>
            </a:pPr>
            <a:r>
              <a:t>• 营销创新活跃</a:t>
            </a:r>
          </a:p>
          <a:p>
            <a:pPr>
              <a:spcAft>
                <a:spcPts val="1000"/>
              </a:spcAft>
              <a:defRPr sz="1800"/>
            </a:pPr>
            <a:r>
              <a:t>• 产品差异化明显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主要竞品品牌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12192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品牌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产地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定位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价格带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特色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杜蕾斯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英国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高端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¥¥¥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营销领先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杰士邦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澳洲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中高端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¥¥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体育营销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冈本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日本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超薄高端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¥¥¥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极致薄度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大象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中国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年轻科技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¥¥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技术创新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名流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中国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性价比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高性价比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市场份额分析（线上 2025）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市场份额占比：</a:t>
            </a:r>
          </a:p>
          <a:p>
            <a:pPr>
              <a:spcAft>
                <a:spcPts val="1000"/>
              </a:spcAft>
              <a:defRPr sz="1800"/>
            </a:pPr>
            <a:r>
              <a:t>• 杜蕾斯：28%</a:t>
            </a:r>
          </a:p>
          <a:p>
            <a:pPr>
              <a:spcAft>
                <a:spcPts val="1000"/>
              </a:spcAft>
              <a:defRPr sz="1800"/>
            </a:pPr>
            <a:r>
              <a:t>• 杰士邦：18%</a:t>
            </a:r>
          </a:p>
          <a:p>
            <a:pPr>
              <a:spcAft>
                <a:spcPts val="1000"/>
              </a:spcAft>
              <a:defRPr sz="1800"/>
            </a:pPr>
            <a:r>
              <a:t>• 冈本：12%</a:t>
            </a:r>
          </a:p>
          <a:p>
            <a:pPr>
              <a:spcAft>
                <a:spcPts val="1000"/>
              </a:spcAft>
              <a:defRPr sz="1800"/>
            </a:pPr>
            <a:r>
              <a:t>• 大象：8%</a:t>
            </a:r>
          </a:p>
          <a:p>
            <a:pPr>
              <a:spcAft>
                <a:spcPts val="1000"/>
              </a:spcAft>
              <a:defRPr sz="1800"/>
            </a:pPr>
            <a:r>
              <a:t>• 其他：34%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增长趋势：</a:t>
            </a:r>
          </a:p>
          <a:p>
            <a:pPr>
              <a:spcAft>
                <a:spcPts val="1000"/>
              </a:spcAft>
              <a:defRPr sz="1800"/>
            </a:pPr>
            <a:r>
              <a:t>• 国际品牌：稳健增长（5-8%）</a:t>
            </a:r>
          </a:p>
          <a:p>
            <a:pPr>
              <a:spcAft>
                <a:spcPts val="1000"/>
              </a:spcAft>
              <a:defRPr sz="1800"/>
            </a:pPr>
            <a:r>
              <a:t>• 国产品牌：快速增长（15-25%）</a:t>
            </a:r>
          </a:p>
          <a:p>
            <a:pPr>
              <a:spcAft>
                <a:spcPts val="1000"/>
              </a:spcAft>
              <a:defRPr sz="1800"/>
            </a:pPr>
            <a:r>
              <a:t>• 新锐品牌：爆发式增长（50%+）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产品线对比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杜蕾斯：</a:t>
            </a:r>
          </a:p>
          <a:p>
            <a:pPr>
              <a:spcAft>
                <a:spcPts val="1000"/>
              </a:spcAft>
              <a:defRPr sz="1800"/>
            </a:pPr>
            <a:r>
              <a:t>• AIR 空气套、持久装、润滑剂系列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杰士邦：</a:t>
            </a:r>
          </a:p>
          <a:p>
            <a:pPr>
              <a:spcAft>
                <a:spcPts val="1000"/>
              </a:spcAft>
              <a:defRPr sz="1800"/>
            </a:pPr>
            <a:r>
              <a:t>• 零感系列（001/003）、玻尿酸系列、NBA 联名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冈本：</a:t>
            </a:r>
          </a:p>
          <a:p>
            <a:pPr>
              <a:spcAft>
                <a:spcPts val="1000"/>
              </a:spcAft>
              <a:defRPr sz="1800"/>
            </a:pPr>
            <a:r>
              <a:t>• 001/002/003/004 系列、玻尿酸系列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大象：</a:t>
            </a:r>
          </a:p>
          <a:p>
            <a:pPr>
              <a:spcAft>
                <a:spcPts val="1000"/>
              </a:spcAft>
              <a:defRPr sz="1800"/>
            </a:pPr>
            <a:r>
              <a:t>• 牛油果系列、大花套、果冻套、单手打开专利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价格策略（元/只）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2192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品牌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入门款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主流款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高端款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杜蕾斯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12-20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杰士邦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10-15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冈本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18-30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大象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10-12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名流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6-8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营销渠道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线上渠道：</a:t>
            </a:r>
          </a:p>
          <a:p>
            <a:pPr>
              <a:spcAft>
                <a:spcPts val="1000"/>
              </a:spcAft>
              <a:defRPr sz="1800"/>
            </a:pPr>
            <a:r>
              <a:t>• 天猫/京东：主战场（60%+ 销售）</a:t>
            </a:r>
          </a:p>
          <a:p>
            <a:pPr>
              <a:spcAft>
                <a:spcPts val="1000"/>
              </a:spcAft>
              <a:defRPr sz="1800"/>
            </a:pPr>
            <a:r>
              <a:t>• 美团买药/饿了么：即时零售（增长快）</a:t>
            </a:r>
          </a:p>
          <a:p>
            <a:pPr>
              <a:spcAft>
                <a:spcPts val="1000"/>
              </a:spcAft>
              <a:defRPr sz="1800"/>
            </a:pPr>
            <a:r>
              <a:t>• 抖音/快手：直播带货</a:t>
            </a:r>
          </a:p>
          <a:p>
            <a:pPr>
              <a:spcAft>
                <a:spcPts val="1000"/>
              </a:spcAft>
              <a:defRPr sz="1800"/>
            </a:pPr>
            <a:r>
              <a:t>• 小红书：种草营销</a:t>
            </a:r>
          </a:p>
          <a:p>
            <a:pPr>
              <a:spcAft>
                <a:spcPts val="1000"/>
              </a:spcAft>
              <a:defRPr sz="1800"/>
            </a:pPr>
            <a:r>
              <a:t>• 微信：私域运营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线下渠道：</a:t>
            </a:r>
          </a:p>
          <a:p>
            <a:pPr>
              <a:spcAft>
                <a:spcPts val="1000"/>
              </a:spcAft>
              <a:defRPr sz="1800"/>
            </a:pPr>
            <a:r>
              <a:t>• 便利店（7-11/全家）</a:t>
            </a:r>
          </a:p>
          <a:p>
            <a:pPr>
              <a:spcAft>
                <a:spcPts val="1000"/>
              </a:spcAft>
              <a:defRPr sz="1800"/>
            </a:pPr>
            <a:r>
              <a:t>• 药店（大参林/老百姓）</a:t>
            </a:r>
          </a:p>
          <a:p>
            <a:pPr>
              <a:spcAft>
                <a:spcPts val="1000"/>
              </a:spcAft>
              <a:defRPr sz="1800"/>
            </a:pPr>
            <a:r>
              <a:t>• 商超（沃尔玛/家乐福）</a:t>
            </a:r>
          </a:p>
          <a:p>
            <a:pPr>
              <a:spcAft>
                <a:spcPts val="1000"/>
              </a:spcAft>
              <a:defRPr sz="1800"/>
            </a:pPr>
            <a:r>
              <a:t>• 自动售货机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社交媒体表现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微博粉丝数（万）：</a:t>
            </a:r>
          </a:p>
          <a:p>
            <a:pPr>
              <a:spcAft>
                <a:spcPts val="1000"/>
              </a:spcAft>
              <a:defRPr sz="1800"/>
            </a:pPr>
            <a:r>
              <a:t>• 杜蕾斯：450+</a:t>
            </a:r>
          </a:p>
          <a:p>
            <a:pPr>
              <a:spcAft>
                <a:spcPts val="1000"/>
              </a:spcAft>
              <a:defRPr sz="1800"/>
            </a:pPr>
            <a:r>
              <a:t>• 杰士邦：180+</a:t>
            </a:r>
          </a:p>
          <a:p>
            <a:pPr>
              <a:spcAft>
                <a:spcPts val="1000"/>
              </a:spcAft>
              <a:defRPr sz="1800"/>
            </a:pPr>
            <a:r>
              <a:t>• 冈本：80+</a:t>
            </a:r>
          </a:p>
          <a:p>
            <a:pPr>
              <a:spcAft>
                <a:spcPts val="1000"/>
              </a:spcAft>
              <a:defRPr sz="1800"/>
            </a:pPr>
            <a:r>
              <a:t>• 大象：120+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营销特点：</a:t>
            </a:r>
          </a:p>
          <a:p>
            <a:pPr>
              <a:spcAft>
                <a:spcPts val="1000"/>
              </a:spcAft>
              <a:defRPr sz="1800"/>
            </a:pPr>
            <a:r>
              <a:t>• 杜蕾斯：热点营销、文案出圈</a:t>
            </a:r>
          </a:p>
          <a:p>
            <a:pPr>
              <a:spcAft>
                <a:spcPts val="1000"/>
              </a:spcAft>
              <a:defRPr sz="1800"/>
            </a:pPr>
            <a:r>
              <a:t>• 杰士邦：NBA 赞助、体育营销</a:t>
            </a:r>
          </a:p>
          <a:p>
            <a:pPr>
              <a:spcAft>
                <a:spcPts val="1000"/>
              </a:spcAft>
              <a:defRPr sz="1800"/>
            </a:pPr>
            <a:r>
              <a:t>• 冈本：日系美学、品质路线</a:t>
            </a:r>
          </a:p>
          <a:p>
            <a:pPr>
              <a:spcAft>
                <a:spcPts val="1000"/>
              </a:spcAft>
              <a:defRPr sz="1800"/>
            </a:pPr>
            <a:r>
              <a:t>• 大象：技术创新、年轻化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新品动态（2026）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杜蕾斯：</a:t>
            </a:r>
          </a:p>
          <a:p>
            <a:pPr>
              <a:spcAft>
                <a:spcPts val="1000"/>
              </a:spcAft>
              <a:defRPr sz="1800"/>
            </a:pPr>
            <a:r>
              <a:t>• 90 周年品牌宣传片、至薄系列升级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杰士邦：</a:t>
            </a:r>
          </a:p>
          <a:p>
            <a:pPr>
              <a:spcAft>
                <a:spcPts val="1000"/>
              </a:spcAft>
              <a:defRPr sz="1800"/>
            </a:pPr>
            <a:r>
              <a:t>• 零感·至薄至润、玻尿酸系列扩展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大象：</a:t>
            </a:r>
          </a:p>
          <a:p>
            <a:pPr>
              <a:spcAft>
                <a:spcPts val="1000"/>
              </a:spcAft>
              <a:defRPr sz="1800"/>
            </a:pPr>
            <a:r>
              <a:t>• 限定大花套、哎哟果冻套</a:t>
            </a:r>
          </a:p>
          <a:p>
            <a:pPr>
              <a:spcAft>
                <a:spcPts val="1000"/>
              </a:spcAft>
              <a:defRPr sz="1800"/>
            </a:pPr>
            <a:r>
              <a:t>• 2024 乌镇健康大会三项大奖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用户画像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年龄分布：</a:t>
            </a:r>
          </a:p>
          <a:p>
            <a:pPr>
              <a:spcAft>
                <a:spcPts val="1000"/>
              </a:spcAft>
              <a:defRPr sz="1800"/>
            </a:pPr>
            <a:r>
              <a:t>• 18-24 岁：35%</a:t>
            </a:r>
          </a:p>
          <a:p>
            <a:pPr>
              <a:spcAft>
                <a:spcPts val="1000"/>
              </a:spcAft>
              <a:defRPr sz="1800"/>
            </a:pPr>
            <a:r>
              <a:t>• 25-30 岁：40%</a:t>
            </a:r>
          </a:p>
          <a:p>
            <a:pPr>
              <a:spcAft>
                <a:spcPts val="1000"/>
              </a:spcAft>
              <a:defRPr sz="1800"/>
            </a:pPr>
            <a:r>
              <a:t>• 31-40 岁：20%</a:t>
            </a:r>
          </a:p>
          <a:p>
            <a:pPr>
              <a:spcAft>
                <a:spcPts val="1000"/>
              </a:spcAft>
              <a:defRPr sz="1800"/>
            </a:pPr>
            <a:r>
              <a:t>• 40+ 岁：5%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关注因素：</a:t>
            </a:r>
          </a:p>
          <a:p>
            <a:pPr>
              <a:spcAft>
                <a:spcPts val="1000"/>
              </a:spcAft>
              <a:defRPr sz="1800"/>
            </a:pPr>
            <a:r>
              <a:t>1. 安全性（95%）</a:t>
            </a:r>
          </a:p>
          <a:p>
            <a:pPr>
              <a:spcAft>
                <a:spcPts val="1000"/>
              </a:spcAft>
              <a:defRPr sz="1800"/>
            </a:pPr>
            <a:r>
              <a:t>2. 舒适度（88%）</a:t>
            </a:r>
          </a:p>
          <a:p>
            <a:pPr>
              <a:spcAft>
                <a:spcPts val="1000"/>
              </a:spcAft>
              <a:defRPr sz="1800"/>
            </a:pPr>
            <a:r>
              <a:t>3. 价格（72%）</a:t>
            </a:r>
          </a:p>
          <a:p>
            <a:pPr>
              <a:spcAft>
                <a:spcPts val="1000"/>
              </a:spcAft>
              <a:defRPr sz="1800"/>
            </a:pPr>
            <a:r>
              <a:t>4. 品牌（65%）</a:t>
            </a:r>
          </a:p>
          <a:p>
            <a:pPr>
              <a:spcAft>
                <a:spcPts val="1000"/>
              </a:spcAft>
              <a:defRPr sz="1800"/>
            </a:pPr>
            <a:r>
              <a:t>5. 功能（58%）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趋势与建议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行业趋势：</a:t>
            </a:r>
          </a:p>
          <a:p>
            <a:pPr>
              <a:spcAft>
                <a:spcPts val="1000"/>
              </a:spcAft>
              <a:defRPr sz="1800"/>
            </a:pPr>
            <a:r>
              <a:t>1. 产品创新：更薄、更舒适、功能性</a:t>
            </a:r>
          </a:p>
          <a:p>
            <a:pPr>
              <a:spcAft>
                <a:spcPts val="1000"/>
              </a:spcAft>
              <a:defRPr sz="1800"/>
            </a:pPr>
            <a:r>
              <a:t>2. 渠道变革：即时零售、私域运营</a:t>
            </a:r>
          </a:p>
          <a:p>
            <a:pPr>
              <a:spcAft>
                <a:spcPts val="1000"/>
              </a:spcAft>
              <a:defRPr sz="1800"/>
            </a:pPr>
            <a:r>
              <a:t>3. 营销升级：内容营销、社交传播</a:t>
            </a:r>
          </a:p>
          <a:p>
            <a:pPr>
              <a:spcAft>
                <a:spcPts val="1000"/>
              </a:spcAft>
              <a:defRPr sz="1800"/>
            </a:pPr>
            <a:r>
              <a:t>4. 品牌年轻化：Z 世代沟通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机会点：</a:t>
            </a:r>
          </a:p>
          <a:p>
            <a:pPr>
              <a:spcAft>
                <a:spcPts val="1000"/>
              </a:spcAft>
              <a:defRPr sz="1800"/>
            </a:pPr>
            <a:r>
              <a:t>• 技术创新、细分人群、场景延伸、内容营销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核心发现：</a:t>
            </a:r>
          </a:p>
          <a:p>
            <a:pPr>
              <a:spcAft>
                <a:spcPts val="1000"/>
              </a:spcAft>
              <a:defRPr sz="1800"/>
            </a:pPr>
            <a:r>
              <a:t>• 市场集中度提升，头部品牌优势明显</a:t>
            </a:r>
          </a:p>
          <a:p>
            <a:pPr>
              <a:spcAft>
                <a:spcPts val="1000"/>
              </a:spcAft>
              <a:defRPr sz="1800"/>
            </a:pPr>
            <a:r>
              <a:t>• 国产品牌快速崛起，技术创新是关键</a:t>
            </a:r>
          </a:p>
          <a:p>
            <a:pPr>
              <a:spcAft>
                <a:spcPts val="1000"/>
              </a:spcAft>
              <a:defRPr sz="1800"/>
            </a:pPr>
            <a:r>
              <a:t>• 线上渠道主导，即时零售增长快</a:t>
            </a:r>
          </a:p>
          <a:p>
            <a:pPr>
              <a:spcAft>
                <a:spcPts val="1000"/>
              </a:spcAft>
              <a:defRPr sz="1800"/>
            </a:pPr>
            <a:r>
              <a:t>• 营销创新活跃，内容质量决定传播效果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行动建议：</a:t>
            </a:r>
          </a:p>
          <a:p>
            <a:pPr>
              <a:spcAft>
                <a:spcPts val="1000"/>
              </a:spcAft>
              <a:defRPr sz="1800"/>
            </a:pPr>
            <a:r>
              <a:t>1. 加强产品研发，打造差异化卖点</a:t>
            </a:r>
          </a:p>
          <a:p>
            <a:pPr>
              <a:spcAft>
                <a:spcPts val="1000"/>
              </a:spcAft>
              <a:defRPr sz="1800"/>
            </a:pPr>
            <a:r>
              <a:t>2. 深耕线上渠道，布局即时零售</a:t>
            </a:r>
          </a:p>
          <a:p>
            <a:pPr>
              <a:spcAft>
                <a:spcPts val="1000"/>
              </a:spcAft>
              <a:defRPr sz="1800"/>
            </a:pPr>
            <a:r>
              <a:t>3. 创新营销方式，提升品牌声量</a:t>
            </a:r>
          </a:p>
          <a:p>
            <a:pPr>
              <a:spcAft>
                <a:spcPts val="1000"/>
              </a:spcAft>
              <a:defRPr sz="1800"/>
            </a:pPr>
            <a:r>
              <a:t>4. 关注用户反馈，持续优化体验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谢谢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Q&amp;A</a:t>
            </a:r>
          </a:p>
          <a:p/>
          <a:p>
            <a:r>
              <a:t>报告时间：2026 年 3 月 18 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